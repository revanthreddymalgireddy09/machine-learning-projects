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2" r:id="rId3"/>
    <p:sldId id="257" r:id="rId4"/>
    <p:sldId id="258" r:id="rId5"/>
    <p:sldId id="259" r:id="rId6"/>
    <p:sldId id="264" r:id="rId7"/>
    <p:sldId id="265" r:id="rId8"/>
    <p:sldId id="266" r:id="rId9"/>
    <p:sldId id="269" r:id="rId10"/>
    <p:sldId id="267" r:id="rId11"/>
    <p:sldId id="268" r:id="rId12"/>
    <p:sldId id="260" r:id="rId13"/>
    <p:sldId id="263" r:id="rId14"/>
    <p:sldId id="26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74"/>
    <p:restoredTop sz="94628"/>
  </p:normalViewPr>
  <p:slideViewPr>
    <p:cSldViewPr snapToGrid="0">
      <p:cViewPr varScale="1">
        <p:scale>
          <a:sx n="93" d="100"/>
          <a:sy n="93" d="100"/>
        </p:scale>
        <p:origin x="216"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4/16/25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4/16/25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4/16/25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4/16/25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4/16/25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4/16/25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4/16/25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48EC41B9-2D25-48A6-BC40-DA8F79F3E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Head with Gears">
            <a:extLst>
              <a:ext uri="{FF2B5EF4-FFF2-40B4-BE49-F238E27FC236}">
                <a16:creationId xmlns:a16="http://schemas.microsoft.com/office/drawing/2014/main" id="{EF9544DD-63D8-240E-5D09-B1E7524688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76508" y="957486"/>
            <a:ext cx="3285330" cy="2471514"/>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42" name="Picture 41">
            <a:extLst>
              <a:ext uri="{FF2B5EF4-FFF2-40B4-BE49-F238E27FC236}">
                <a16:creationId xmlns:a16="http://schemas.microsoft.com/office/drawing/2014/main" id="{F8F21547-A433-450A-B2A3-930DCFAB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71324"/>
          <a:stretch/>
        </p:blipFill>
        <p:spPr>
          <a:xfrm>
            <a:off x="0" y="0"/>
            <a:ext cx="3496235" cy="6858000"/>
          </a:xfrm>
          <a:prstGeom prst="rect">
            <a:avLst/>
          </a:prstGeom>
        </p:spPr>
      </p:pic>
      <p:sp>
        <p:nvSpPr>
          <p:cNvPr id="2" name="Title 1">
            <a:extLst>
              <a:ext uri="{FF2B5EF4-FFF2-40B4-BE49-F238E27FC236}">
                <a16:creationId xmlns:a16="http://schemas.microsoft.com/office/drawing/2014/main" id="{8C4D2083-E3B6-F14F-236B-60A8B07A821B}"/>
              </a:ext>
            </a:extLst>
          </p:cNvPr>
          <p:cNvSpPr>
            <a:spLocks noGrp="1"/>
          </p:cNvSpPr>
          <p:nvPr>
            <p:ph type="ctrTitle"/>
          </p:nvPr>
        </p:nvSpPr>
        <p:spPr>
          <a:xfrm>
            <a:off x="635211" y="3602183"/>
            <a:ext cx="10916365" cy="1066800"/>
          </a:xfrm>
        </p:spPr>
        <p:txBody>
          <a:bodyPr>
            <a:normAutofit fontScale="90000"/>
          </a:bodyPr>
          <a:lstStyle/>
          <a:p>
            <a:r>
              <a:rPr lang="en-US" sz="3700" b="1" dirty="0">
                <a:latin typeface="Times New Roman" panose="02020603050405020304" pitchFamily="18" charset="0"/>
                <a:cs typeface="Times New Roman" panose="02020603050405020304" pitchFamily="18" charset="0"/>
              </a:rPr>
              <a:t>Generative adversarial networks for image Generation</a:t>
            </a:r>
          </a:p>
        </p:txBody>
      </p:sp>
      <p:sp>
        <p:nvSpPr>
          <p:cNvPr id="3" name="Subtitle 2">
            <a:extLst>
              <a:ext uri="{FF2B5EF4-FFF2-40B4-BE49-F238E27FC236}">
                <a16:creationId xmlns:a16="http://schemas.microsoft.com/office/drawing/2014/main" id="{7B86C904-A984-C245-EDB4-9C6E546A7FDA}"/>
              </a:ext>
            </a:extLst>
          </p:cNvPr>
          <p:cNvSpPr>
            <a:spLocks noGrp="1"/>
          </p:cNvSpPr>
          <p:nvPr>
            <p:ph type="subTitle" idx="1"/>
          </p:nvPr>
        </p:nvSpPr>
        <p:spPr>
          <a:xfrm>
            <a:off x="635211" y="4842167"/>
            <a:ext cx="10916365" cy="1374078"/>
          </a:xfrm>
        </p:spPr>
        <p:txBody>
          <a:bodyPr>
            <a:normAutofit/>
          </a:bodyPr>
          <a:lstStyle/>
          <a:p>
            <a:pPr marL="285750" indent="-285750" algn="just">
              <a:lnSpc>
                <a:spcPct val="110000"/>
              </a:lnSpc>
              <a:buFont typeface="Arial" panose="020B0604020202020204" pitchFamily="34" charset="0"/>
              <a:buChar char="•"/>
            </a:pPr>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Sai </a:t>
            </a:r>
            <a:r>
              <a:rPr lang="en-US" sz="1600" dirty="0" err="1">
                <a:solidFill>
                  <a:schemeClr val="tx1">
                    <a:lumMod val="50000"/>
                    <a:lumOff val="50000"/>
                  </a:schemeClr>
                </a:solidFill>
                <a:latin typeface="Times New Roman" panose="02020603050405020304" pitchFamily="18" charset="0"/>
                <a:cs typeface="Times New Roman" panose="02020603050405020304" pitchFamily="18" charset="0"/>
              </a:rPr>
              <a:t>revan</a:t>
            </a:r>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 Vemuri</a:t>
            </a:r>
          </a:p>
          <a:p>
            <a:pPr marL="285750" indent="-285750" algn="just">
              <a:lnSpc>
                <a:spcPct val="110000"/>
              </a:lnSpc>
              <a:buFont typeface="Arial" panose="020B0604020202020204" pitchFamily="34" charset="0"/>
              <a:buChar char="•"/>
            </a:pPr>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Samaja </a:t>
            </a:r>
            <a:r>
              <a:rPr lang="en-US" sz="1600" dirty="0" err="1">
                <a:solidFill>
                  <a:schemeClr val="tx1">
                    <a:lumMod val="50000"/>
                    <a:lumOff val="50000"/>
                  </a:schemeClr>
                </a:solidFill>
                <a:latin typeface="Times New Roman" panose="02020603050405020304" pitchFamily="18" charset="0"/>
                <a:cs typeface="Times New Roman" panose="02020603050405020304" pitchFamily="18" charset="0"/>
              </a:rPr>
              <a:t>polepally</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a:p>
            <a:pPr marL="285750" indent="-285750" algn="just">
              <a:lnSpc>
                <a:spcPct val="110000"/>
              </a:lnSpc>
              <a:buFont typeface="Arial" panose="020B0604020202020204" pitchFamily="34" charset="0"/>
              <a:buChar char="•"/>
            </a:pPr>
            <a:r>
              <a:rPr lang="en-US" sz="1600" dirty="0" err="1">
                <a:solidFill>
                  <a:schemeClr val="tx1">
                    <a:lumMod val="50000"/>
                    <a:lumOff val="50000"/>
                  </a:schemeClr>
                </a:solidFill>
                <a:latin typeface="Times New Roman" panose="02020603050405020304" pitchFamily="18" charset="0"/>
                <a:cs typeface="Times New Roman" panose="02020603050405020304" pitchFamily="18" charset="0"/>
              </a:rPr>
              <a:t>Revanthreddy</a:t>
            </a:r>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US" sz="1600" dirty="0" err="1">
                <a:solidFill>
                  <a:schemeClr val="tx1">
                    <a:lumMod val="50000"/>
                    <a:lumOff val="50000"/>
                  </a:schemeClr>
                </a:solidFill>
                <a:latin typeface="Times New Roman" panose="02020603050405020304" pitchFamily="18" charset="0"/>
                <a:cs typeface="Times New Roman" panose="02020603050405020304" pitchFamily="18" charset="0"/>
              </a:rPr>
              <a:t>malgireddy</a:t>
            </a:r>
            <a:endParaRPr 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pic>
        <p:nvPicPr>
          <p:cNvPr id="43" name="Picture 42">
            <a:extLst>
              <a:ext uri="{FF2B5EF4-FFF2-40B4-BE49-F238E27FC236}">
                <a16:creationId xmlns:a16="http://schemas.microsoft.com/office/drawing/2014/main" id="{A73B520B-D7E7-436A-B263-0682940B4F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61810" r="21258"/>
          <a:stretch/>
        </p:blipFill>
        <p:spPr>
          <a:xfrm>
            <a:off x="0" y="4238951"/>
            <a:ext cx="9600237" cy="2619049"/>
          </a:xfrm>
          <a:prstGeom prst="rect">
            <a:avLst/>
          </a:prstGeom>
        </p:spPr>
      </p:pic>
    </p:spTree>
    <p:extLst>
      <p:ext uri="{BB962C8B-B14F-4D97-AF65-F5344CB8AC3E}">
        <p14:creationId xmlns:p14="http://schemas.microsoft.com/office/powerpoint/2010/main" val="239598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A544A-02EE-F018-D5C0-7F24D9307084}"/>
              </a:ext>
            </a:extLst>
          </p:cNvPr>
          <p:cNvSpPr>
            <a:spLocks noGrp="1"/>
          </p:cNvSpPr>
          <p:nvPr>
            <p:ph type="title"/>
          </p:nvPr>
        </p:nvSpPr>
        <p:spPr/>
        <p:txBody>
          <a:bodyPr>
            <a:normAutofit/>
          </a:bodyPr>
          <a:lstStyle/>
          <a:p>
            <a:pPr marL="285750" indent="-285750" algn="just">
              <a:buFont typeface="Wingdings" pitchFamily="2" charset="2"/>
              <a:buChar char="q"/>
            </a:pPr>
            <a:r>
              <a:rPr lang="en-US" sz="2000" b="1" cap="none"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DC61DFAE-F368-AC66-0795-4982FDDFDDD5}"/>
              </a:ext>
            </a:extLst>
          </p:cNvPr>
          <p:cNvSpPr>
            <a:spLocks noGrp="1"/>
          </p:cNvSpPr>
          <p:nvPr>
            <p:ph sz="quarter" idx="13"/>
          </p:nvPr>
        </p:nvSpPr>
        <p:spPr/>
        <p:txBody>
          <a:bodyPr>
            <a:normAutofit/>
          </a:bodyPr>
          <a:lstStyle/>
          <a:p>
            <a:pPr marL="0" indent="0">
              <a:buNone/>
            </a:pPr>
            <a:r>
              <a:rPr lang="en-US" sz="1800" cap="none" dirty="0">
                <a:latin typeface="Times New Roman" panose="02020603050405020304" pitchFamily="18" charset="0"/>
                <a:cs typeface="Times New Roman" panose="02020603050405020304" pitchFamily="18" charset="0"/>
              </a:rPr>
              <a:t>Generative Adversarial Network (GAN) on OpenCV and </a:t>
            </a:r>
            <a:r>
              <a:rPr lang="en-US" sz="1800" cap="none" dirty="0" err="1">
                <a:latin typeface="Times New Roman" panose="02020603050405020304" pitchFamily="18" charset="0"/>
                <a:cs typeface="Times New Roman" panose="02020603050405020304" pitchFamily="18" charset="0"/>
              </a:rPr>
              <a:t>Keras</a:t>
            </a:r>
            <a:r>
              <a:rPr lang="en-US" sz="1800" cap="none" dirty="0">
                <a:latin typeface="Times New Roman" panose="02020603050405020304" pitchFamily="18" charset="0"/>
                <a:cs typeface="Times New Roman" panose="02020603050405020304" pitchFamily="18" charset="0"/>
              </a:rPr>
              <a:t> for generating images, to regulate trainings of generator (G) and discriminator (D) networks. The GAN utilizes deep convolutional neural networks (DCNNs) with Batch Normalization being used only on G and not D to prevent overfitting. FID score is calculated to measured to know the quality of generated image.</a:t>
            </a:r>
          </a:p>
        </p:txBody>
      </p:sp>
    </p:spTree>
    <p:extLst>
      <p:ext uri="{BB962C8B-B14F-4D97-AF65-F5344CB8AC3E}">
        <p14:creationId xmlns:p14="http://schemas.microsoft.com/office/powerpoint/2010/main" val="2428439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4C56A-7BDB-DE44-4DD5-7DA93C4F9B70}"/>
              </a:ext>
            </a:extLst>
          </p:cNvPr>
          <p:cNvSpPr>
            <a:spLocks noGrp="1"/>
          </p:cNvSpPr>
          <p:nvPr>
            <p:ph type="title"/>
          </p:nvPr>
        </p:nvSpPr>
        <p:spPr/>
        <p:txBody>
          <a:bodyPr>
            <a:normAutofit/>
          </a:bodyPr>
          <a:lstStyle/>
          <a:p>
            <a:pPr marL="571500" indent="-571500" algn="just">
              <a:buFont typeface="Wingdings" pitchFamily="2" charset="2"/>
              <a:buChar char="q"/>
            </a:pPr>
            <a:r>
              <a:rPr lang="en-US" sz="2000" b="1" cap="none"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50E6EAE1-3D0D-1172-B14A-38FA282F5A38}"/>
              </a:ext>
            </a:extLst>
          </p:cNvPr>
          <p:cNvSpPr>
            <a:spLocks noGrp="1"/>
          </p:cNvSpPr>
          <p:nvPr>
            <p:ph sz="quarter" idx="13"/>
          </p:nvPr>
        </p:nvSpPr>
        <p:spPr/>
        <p:txBody>
          <a:bodyPr>
            <a:noAutofit/>
          </a:bodyPr>
          <a:lstStyle/>
          <a:p>
            <a:r>
              <a:rPr lang="en-US" sz="1800" cap="none" dirty="0">
                <a:latin typeface="Times New Roman" panose="02020603050405020304" pitchFamily="18" charset="0"/>
                <a:cs typeface="Times New Roman" panose="02020603050405020304" pitchFamily="18" charset="0"/>
              </a:rPr>
              <a:t>GANs are deep learning models used for unsupervised learning and synthetic data generation. </a:t>
            </a:r>
          </a:p>
          <a:p>
            <a:r>
              <a:rPr lang="en-US" sz="1800" cap="none" dirty="0">
                <a:latin typeface="Times New Roman" panose="02020603050405020304" pitchFamily="18" charset="0"/>
                <a:cs typeface="Times New Roman" panose="02020603050405020304" pitchFamily="18" charset="0"/>
              </a:rPr>
              <a:t>Composed of two neural networks, Generator (creates fake data) and discriminator (evaluates authenticity).</a:t>
            </a:r>
          </a:p>
          <a:p>
            <a:r>
              <a:rPr lang="en-US" sz="1800" cap="none" dirty="0">
                <a:latin typeface="Times New Roman" panose="02020603050405020304" pitchFamily="18" charset="0"/>
                <a:cs typeface="Times New Roman" panose="02020603050405020304" pitchFamily="18" charset="0"/>
              </a:rPr>
              <a:t>Introduced by Ian goodfellow in 2014 as a breakthrough in generative modeling. </a:t>
            </a:r>
          </a:p>
          <a:p>
            <a:r>
              <a:rPr lang="en-US" sz="1800" cap="none" dirty="0">
                <a:latin typeface="Times New Roman" panose="02020603050405020304" pitchFamily="18" charset="0"/>
                <a:cs typeface="Times New Roman" panose="02020603050405020304" pitchFamily="18" charset="0"/>
              </a:rPr>
              <a:t>It has variants like DCGAN, WGAN, </a:t>
            </a:r>
            <a:r>
              <a:rPr lang="en-US" sz="1800" cap="none" dirty="0" err="1">
                <a:latin typeface="Times New Roman" panose="02020603050405020304" pitchFamily="18" charset="0"/>
                <a:cs typeface="Times New Roman" panose="02020603050405020304" pitchFamily="18" charset="0"/>
              </a:rPr>
              <a:t>etc</a:t>
            </a:r>
            <a:r>
              <a:rPr lang="en-US" sz="1800" cap="none" dirty="0">
                <a:latin typeface="Times New Roman" panose="02020603050405020304" pitchFamily="18" charset="0"/>
                <a:cs typeface="Times New Roman" panose="02020603050405020304" pitchFamily="18" charset="0"/>
              </a:rPr>
              <a:t> to improve training stability and models performance.</a:t>
            </a:r>
          </a:p>
          <a:p>
            <a:r>
              <a:rPr lang="en-US" sz="1800" cap="none" dirty="0">
                <a:latin typeface="Times New Roman" panose="02020603050405020304" pitchFamily="18" charset="0"/>
                <a:cs typeface="Times New Roman" panose="02020603050405020304" pitchFamily="18" charset="0"/>
              </a:rPr>
              <a:t>Widely used for image generation ,data augmentation ,anomaly detection ,missing data imputation .</a:t>
            </a:r>
          </a:p>
          <a:p>
            <a:r>
              <a:rPr lang="en-US" sz="1800" cap="none" dirty="0">
                <a:latin typeface="Times New Roman" panose="02020603050405020304" pitchFamily="18" charset="0"/>
                <a:cs typeface="Times New Roman" panose="02020603050405020304" pitchFamily="18" charset="0"/>
              </a:rPr>
              <a:t>Generates realistic synthetic data without requiring additional real-world samples.</a:t>
            </a:r>
          </a:p>
        </p:txBody>
      </p:sp>
    </p:spTree>
    <p:extLst>
      <p:ext uri="{BB962C8B-B14F-4D97-AF65-F5344CB8AC3E}">
        <p14:creationId xmlns:p14="http://schemas.microsoft.com/office/powerpoint/2010/main" val="4250389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2949-B6BB-11DF-020A-96B281BEF2BB}"/>
              </a:ext>
            </a:extLst>
          </p:cNvPr>
          <p:cNvSpPr>
            <a:spLocks noGrp="1"/>
          </p:cNvSpPr>
          <p:nvPr>
            <p:ph type="title"/>
          </p:nvPr>
        </p:nvSpPr>
        <p:spPr/>
        <p:txBody>
          <a:bodyPr>
            <a:normAutofit/>
          </a:bodyPr>
          <a:lstStyle/>
          <a:p>
            <a:pPr marL="285750" indent="-285750" algn="just">
              <a:buFont typeface="Wingdings" pitchFamily="2" charset="2"/>
              <a:buChar char="q"/>
            </a:pPr>
            <a:r>
              <a:rPr lang="en-US" sz="2000" b="1" cap="none" dirty="0"/>
              <a:t>Task description</a:t>
            </a:r>
          </a:p>
        </p:txBody>
      </p:sp>
      <p:sp>
        <p:nvSpPr>
          <p:cNvPr id="3" name="Content Placeholder 2">
            <a:extLst>
              <a:ext uri="{FF2B5EF4-FFF2-40B4-BE49-F238E27FC236}">
                <a16:creationId xmlns:a16="http://schemas.microsoft.com/office/drawing/2014/main" id="{26FD6AAC-15C7-15FD-5B84-68D85E5FDE7D}"/>
              </a:ext>
            </a:extLst>
          </p:cNvPr>
          <p:cNvSpPr>
            <a:spLocks noGrp="1"/>
          </p:cNvSpPr>
          <p:nvPr>
            <p:ph sz="quarter" idx="13"/>
          </p:nvPr>
        </p:nvSpPr>
        <p:spPr/>
        <p:txBody>
          <a:bodyPr>
            <a:normAutofit/>
          </a:bodyPr>
          <a:lstStyle/>
          <a:p>
            <a:pPr marL="0" indent="0">
              <a:buNone/>
            </a:pPr>
            <a:r>
              <a:rPr lang="en-US" sz="1800" cap="none" dirty="0">
                <a:latin typeface="Times New Roman" panose="02020603050405020304" pitchFamily="18" charset="0"/>
                <a:cs typeface="Times New Roman" panose="02020603050405020304" pitchFamily="18" charset="0"/>
              </a:rPr>
              <a:t>Develop  a generative adversarial network (GAN) that :</a:t>
            </a:r>
          </a:p>
          <a:p>
            <a:r>
              <a:rPr lang="en-US" sz="1800" cap="none" dirty="0">
                <a:latin typeface="Times New Roman" panose="02020603050405020304" pitchFamily="18" charset="0"/>
                <a:cs typeface="Times New Roman" panose="02020603050405020304" pitchFamily="18" charset="0"/>
              </a:rPr>
              <a:t>Creates realistic 64x64 RGB images from random noise.</a:t>
            </a:r>
          </a:p>
          <a:p>
            <a:r>
              <a:rPr lang="en-US" sz="1800" cap="none" dirty="0">
                <a:latin typeface="Times New Roman" panose="02020603050405020304" pitchFamily="18" charset="0"/>
                <a:cs typeface="Times New Roman" panose="02020603050405020304" pitchFamily="18" charset="0"/>
              </a:rPr>
              <a:t>Learns features effectively from MNIST dataset.</a:t>
            </a:r>
          </a:p>
          <a:p>
            <a:r>
              <a:rPr lang="en-US" sz="1800" cap="none" dirty="0">
                <a:latin typeface="Times New Roman" panose="02020603050405020304" pitchFamily="18" charset="0"/>
                <a:cs typeface="Times New Roman" panose="02020603050405020304" pitchFamily="18" charset="0"/>
              </a:rPr>
              <a:t>Trains stably with well-balanced generator-discriminator dynamics.</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6240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8992F-2250-3EE4-E4F2-51AC39F2380F}"/>
              </a:ext>
            </a:extLst>
          </p:cNvPr>
          <p:cNvSpPr>
            <a:spLocks noGrp="1"/>
          </p:cNvSpPr>
          <p:nvPr>
            <p:ph type="title"/>
          </p:nvPr>
        </p:nvSpPr>
        <p:spPr/>
        <p:txBody>
          <a:bodyPr>
            <a:normAutofit/>
          </a:bodyPr>
          <a:lstStyle/>
          <a:p>
            <a:pPr marL="571500" indent="-571500" algn="just">
              <a:buFont typeface="Wingdings" pitchFamily="2" charset="2"/>
              <a:buChar char="q"/>
            </a:pPr>
            <a:r>
              <a:rPr lang="en-US" sz="2000" b="1" cap="none" dirty="0">
                <a:latin typeface="Times New Roman" panose="02020603050405020304" pitchFamily="18" charset="0"/>
                <a:cs typeface="Times New Roman" panose="02020603050405020304" pitchFamily="18" charset="0"/>
              </a:rPr>
              <a:t>MNIST Dataset</a:t>
            </a:r>
          </a:p>
        </p:txBody>
      </p:sp>
      <p:sp>
        <p:nvSpPr>
          <p:cNvPr id="3" name="Content Placeholder 2">
            <a:extLst>
              <a:ext uri="{FF2B5EF4-FFF2-40B4-BE49-F238E27FC236}">
                <a16:creationId xmlns:a16="http://schemas.microsoft.com/office/drawing/2014/main" id="{A2345920-0D02-659C-3A1A-79F37A8F88A6}"/>
              </a:ext>
            </a:extLst>
          </p:cNvPr>
          <p:cNvSpPr>
            <a:spLocks noGrp="1"/>
          </p:cNvSpPr>
          <p:nvPr>
            <p:ph sz="quarter" idx="13"/>
          </p:nvPr>
        </p:nvSpPr>
        <p:spPr/>
        <p:txBody>
          <a:bodyPr>
            <a:normAutofit/>
          </a:bodyPr>
          <a:lstStyle/>
          <a:p>
            <a:r>
              <a:rPr lang="en-US" sz="1800" cap="none" dirty="0">
                <a:latin typeface="Times New Roman" panose="02020603050405020304" pitchFamily="18" charset="0"/>
                <a:cs typeface="Times New Roman" panose="02020603050405020304" pitchFamily="18" charset="0"/>
              </a:rPr>
              <a:t>Total number of images: 70000  </a:t>
            </a:r>
          </a:p>
          <a:p>
            <a:r>
              <a:rPr lang="en-US" sz="1800" cap="none" dirty="0">
                <a:latin typeface="Times New Roman" panose="02020603050405020304" pitchFamily="18" charset="0"/>
                <a:cs typeface="Times New Roman" panose="02020603050405020304" pitchFamily="18" charset="0"/>
              </a:rPr>
              <a:t>Total number of training images: 60000</a:t>
            </a:r>
          </a:p>
          <a:p>
            <a:r>
              <a:rPr lang="en-US" sz="1800" cap="none" dirty="0">
                <a:latin typeface="Times New Roman" panose="02020603050405020304" pitchFamily="18" charset="0"/>
                <a:cs typeface="Times New Roman" panose="02020603050405020304" pitchFamily="18" charset="0"/>
              </a:rPr>
              <a:t> Total number of testing images: 10000 </a:t>
            </a:r>
          </a:p>
          <a:p>
            <a:r>
              <a:rPr lang="en-US" sz="1800" cap="none" dirty="0">
                <a:latin typeface="Times New Roman" panose="02020603050405020304" pitchFamily="18" charset="0"/>
                <a:cs typeface="Times New Roman" panose="02020603050405020304" pitchFamily="18" charset="0"/>
              </a:rPr>
              <a:t>Total number of classes: 10 </a:t>
            </a:r>
          </a:p>
          <a:p>
            <a:r>
              <a:rPr lang="en-US" sz="1800" cap="none" dirty="0">
                <a:latin typeface="Times New Roman" panose="02020603050405020304" pitchFamily="18" charset="0"/>
                <a:cs typeface="Times New Roman" panose="02020603050405020304" pitchFamily="18" charset="0"/>
              </a:rPr>
              <a:t>Class types: handwritten digits 0,1,2,3,4,5,6,7,8,9.</a:t>
            </a:r>
          </a:p>
          <a:p>
            <a:r>
              <a:rPr lang="en-US" sz="1800" cap="none" dirty="0">
                <a:latin typeface="Times New Roman" panose="02020603050405020304" pitchFamily="18" charset="0"/>
                <a:cs typeface="Times New Roman" panose="02020603050405020304" pitchFamily="18" charset="0"/>
              </a:rPr>
              <a:t>Each image is 28x28 pixels with single channel (grayscale)</a:t>
            </a:r>
          </a:p>
          <a:p>
            <a:r>
              <a:rPr lang="en-US" sz="1800" cap="none" dirty="0">
                <a:latin typeface="Times New Roman" panose="02020603050405020304" pitchFamily="18" charset="0"/>
                <a:cs typeface="Times New Roman" panose="02020603050405020304" pitchFamily="18" charset="0"/>
              </a:rPr>
              <a:t>Pixel values range from 0 to 255 (black to white)</a:t>
            </a:r>
          </a:p>
        </p:txBody>
      </p:sp>
    </p:spTree>
    <p:extLst>
      <p:ext uri="{BB962C8B-B14F-4D97-AF65-F5344CB8AC3E}">
        <p14:creationId xmlns:p14="http://schemas.microsoft.com/office/powerpoint/2010/main" val="475907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E4865-6B69-DB3B-1F4F-002B44413110}"/>
              </a:ext>
            </a:extLst>
          </p:cNvPr>
          <p:cNvSpPr>
            <a:spLocks noGrp="1"/>
          </p:cNvSpPr>
          <p:nvPr>
            <p:ph type="title"/>
          </p:nvPr>
        </p:nvSpPr>
        <p:spPr/>
        <p:txBody>
          <a:bodyPr>
            <a:normAutofit/>
          </a:bodyPr>
          <a:lstStyle/>
          <a:p>
            <a:pPr marL="342900" indent="-342900" algn="just">
              <a:buFont typeface="Wingdings" pitchFamily="2" charset="2"/>
              <a:buChar char="q"/>
            </a:pPr>
            <a:r>
              <a:rPr lang="en-US" sz="2000" b="1" cap="none" dirty="0"/>
              <a:t>Methods used</a:t>
            </a:r>
          </a:p>
        </p:txBody>
      </p:sp>
      <p:sp>
        <p:nvSpPr>
          <p:cNvPr id="3" name="Content Placeholder 2">
            <a:extLst>
              <a:ext uri="{FF2B5EF4-FFF2-40B4-BE49-F238E27FC236}">
                <a16:creationId xmlns:a16="http://schemas.microsoft.com/office/drawing/2014/main" id="{E158BF18-5CFC-3A96-F654-BC337CAF3203}"/>
              </a:ext>
            </a:extLst>
          </p:cNvPr>
          <p:cNvSpPr>
            <a:spLocks noGrp="1"/>
          </p:cNvSpPr>
          <p:nvPr>
            <p:ph sz="quarter" idx="13"/>
          </p:nvPr>
        </p:nvSpPr>
        <p:spPr/>
        <p:txBody>
          <a:bodyPr>
            <a:normAutofit/>
          </a:bodyPr>
          <a:lstStyle/>
          <a:p>
            <a:pPr>
              <a:buFont typeface="Wingdings" pitchFamily="2" charset="2"/>
              <a:buChar char="v"/>
            </a:pPr>
            <a:r>
              <a:rPr lang="en-US" sz="1800" b="1" cap="none" dirty="0">
                <a:latin typeface="Times New Roman" panose="02020603050405020304" pitchFamily="18" charset="0"/>
                <a:cs typeface="Times New Roman" panose="02020603050405020304" pitchFamily="18" charset="0"/>
              </a:rPr>
              <a:t>Generator</a:t>
            </a:r>
          </a:p>
          <a:p>
            <a:r>
              <a:rPr lang="en-US" sz="1800" cap="none" dirty="0">
                <a:latin typeface="Times New Roman" panose="02020603050405020304" pitchFamily="18" charset="0"/>
                <a:cs typeface="Times New Roman" panose="02020603050405020304" pitchFamily="18" charset="0"/>
              </a:rPr>
              <a:t>Input: 100-dim random noise.</a:t>
            </a:r>
          </a:p>
          <a:p>
            <a:r>
              <a:rPr lang="en-US" sz="1800" cap="none" dirty="0">
                <a:latin typeface="Times New Roman" panose="02020603050405020304" pitchFamily="18" charset="0"/>
                <a:cs typeface="Times New Roman" panose="02020603050405020304" pitchFamily="18" charset="0"/>
              </a:rPr>
              <a:t>Output: 28×28 MNIST-like image.</a:t>
            </a:r>
          </a:p>
          <a:p>
            <a:r>
              <a:rPr lang="en-US" sz="1800" cap="none" dirty="0">
                <a:latin typeface="Times New Roman" panose="02020603050405020304" pitchFamily="18" charset="0"/>
                <a:cs typeface="Times New Roman" panose="02020603050405020304" pitchFamily="18" charset="0"/>
              </a:rPr>
              <a:t>Layers: Dense → Batch Norm → Up Sampling → Conv2D.</a:t>
            </a:r>
          </a:p>
          <a:p>
            <a:pPr marL="0" indent="0">
              <a:buNone/>
            </a:pPr>
            <a:endParaRPr lang="en-US" sz="1800" b="1" cap="none" dirty="0">
              <a:latin typeface="Times New Roman" panose="02020603050405020304" pitchFamily="18" charset="0"/>
              <a:cs typeface="Times New Roman" panose="02020603050405020304" pitchFamily="18" charset="0"/>
            </a:endParaRPr>
          </a:p>
        </p:txBody>
      </p:sp>
      <p:pic>
        <p:nvPicPr>
          <p:cNvPr id="5" name="Picture 4" descr="A diagram of a network&#10;&#10;AI-generated content may be incorrect.">
            <a:extLst>
              <a:ext uri="{FF2B5EF4-FFF2-40B4-BE49-F238E27FC236}">
                <a16:creationId xmlns:a16="http://schemas.microsoft.com/office/drawing/2014/main" id="{4E11D85D-3DC3-CE47-4076-F32448686F34}"/>
              </a:ext>
            </a:extLst>
          </p:cNvPr>
          <p:cNvPicPr>
            <a:picLocks noChangeAspect="1"/>
          </p:cNvPicPr>
          <p:nvPr/>
        </p:nvPicPr>
        <p:blipFill>
          <a:blip r:embed="rId2"/>
          <a:stretch>
            <a:fillRect/>
          </a:stretch>
        </p:blipFill>
        <p:spPr>
          <a:xfrm>
            <a:off x="1205345" y="4308764"/>
            <a:ext cx="5708073" cy="2036618"/>
          </a:xfrm>
          <a:prstGeom prst="rect">
            <a:avLst/>
          </a:prstGeom>
        </p:spPr>
      </p:pic>
    </p:spTree>
    <p:extLst>
      <p:ext uri="{BB962C8B-B14F-4D97-AF65-F5344CB8AC3E}">
        <p14:creationId xmlns:p14="http://schemas.microsoft.com/office/powerpoint/2010/main" val="1376050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427AE-18FB-42C7-9093-108BD64ACA33}"/>
              </a:ext>
            </a:extLst>
          </p:cNvPr>
          <p:cNvSpPr>
            <a:spLocks noGrp="1"/>
          </p:cNvSpPr>
          <p:nvPr>
            <p:ph type="title"/>
          </p:nvPr>
        </p:nvSpPr>
        <p:spPr/>
        <p:txBody>
          <a:bodyPr>
            <a:normAutofit/>
          </a:bodyPr>
          <a:lstStyle/>
          <a:p>
            <a:pPr marL="342900" indent="-342900" algn="just">
              <a:buFont typeface="Wingdings" pitchFamily="2" charset="2"/>
              <a:buChar char="q"/>
            </a:pPr>
            <a:r>
              <a:rPr lang="en-US" sz="2000" b="1" cap="none" dirty="0">
                <a:latin typeface="Times New Roman" panose="02020603050405020304" pitchFamily="18" charset="0"/>
                <a:cs typeface="Times New Roman" panose="02020603050405020304" pitchFamily="18" charset="0"/>
              </a:rPr>
              <a:t>Methods used</a:t>
            </a:r>
          </a:p>
        </p:txBody>
      </p:sp>
      <p:sp>
        <p:nvSpPr>
          <p:cNvPr id="3" name="Content Placeholder 2">
            <a:extLst>
              <a:ext uri="{FF2B5EF4-FFF2-40B4-BE49-F238E27FC236}">
                <a16:creationId xmlns:a16="http://schemas.microsoft.com/office/drawing/2014/main" id="{23E31D77-D49D-0020-8A83-C6D04940D9C4}"/>
              </a:ext>
            </a:extLst>
          </p:cNvPr>
          <p:cNvSpPr>
            <a:spLocks noGrp="1"/>
          </p:cNvSpPr>
          <p:nvPr>
            <p:ph sz="quarter" idx="13"/>
          </p:nvPr>
        </p:nvSpPr>
        <p:spPr/>
        <p:txBody>
          <a:bodyPr/>
          <a:lstStyle/>
          <a:p>
            <a:pPr>
              <a:buFont typeface="Wingdings" pitchFamily="2" charset="2"/>
              <a:buChar char="v"/>
            </a:pPr>
            <a:r>
              <a:rPr lang="en-US" b="1" cap="none" dirty="0">
                <a:latin typeface="Times New Roman" panose="02020603050405020304" pitchFamily="18" charset="0"/>
                <a:cs typeface="Times New Roman" panose="02020603050405020304" pitchFamily="18" charset="0"/>
              </a:rPr>
              <a:t>Discriminator:</a:t>
            </a:r>
            <a:endParaRPr lang="en-US" dirty="0"/>
          </a:p>
          <a:p>
            <a:r>
              <a:rPr lang="en-US" sz="1800" cap="none" dirty="0">
                <a:latin typeface="Times New Roman" panose="02020603050405020304" pitchFamily="18" charset="0"/>
                <a:cs typeface="Times New Roman" panose="02020603050405020304" pitchFamily="18" charset="0"/>
              </a:rPr>
              <a:t>Input: 28×28 image.</a:t>
            </a:r>
          </a:p>
          <a:p>
            <a:r>
              <a:rPr lang="en-US" sz="1800" cap="none" dirty="0">
                <a:latin typeface="Times New Roman" panose="02020603050405020304" pitchFamily="18" charset="0"/>
                <a:cs typeface="Times New Roman" panose="02020603050405020304" pitchFamily="18" charset="0"/>
              </a:rPr>
              <a:t>Output: binary classification (real/fake).</a:t>
            </a:r>
          </a:p>
          <a:p>
            <a:r>
              <a:rPr lang="en-US" sz="1800" cap="none" dirty="0">
                <a:latin typeface="Times New Roman" panose="02020603050405020304" pitchFamily="18" charset="0"/>
                <a:cs typeface="Times New Roman" panose="02020603050405020304" pitchFamily="18" charset="0"/>
              </a:rPr>
              <a:t>Layers: conv2d → max pooling → dense.</a:t>
            </a:r>
          </a:p>
          <a:p>
            <a:pPr marL="0" indent="0">
              <a:buNone/>
            </a:pPr>
            <a:endParaRPr lang="en-US" sz="1800" cap="none" dirty="0">
              <a:latin typeface="Times New Roman" panose="02020603050405020304" pitchFamily="18" charset="0"/>
              <a:cs typeface="Times New Roman" panose="02020603050405020304" pitchFamily="18" charset="0"/>
            </a:endParaRPr>
          </a:p>
        </p:txBody>
      </p:sp>
      <p:pic>
        <p:nvPicPr>
          <p:cNvPr id="5" name="Picture 4" descr="A diagram of a network&#10;&#10;AI-generated content may be incorrect.">
            <a:extLst>
              <a:ext uri="{FF2B5EF4-FFF2-40B4-BE49-F238E27FC236}">
                <a16:creationId xmlns:a16="http://schemas.microsoft.com/office/drawing/2014/main" id="{421B02BB-A376-ADEB-959F-0E5D4F13BB78}"/>
              </a:ext>
            </a:extLst>
          </p:cNvPr>
          <p:cNvPicPr>
            <a:picLocks noChangeAspect="1"/>
          </p:cNvPicPr>
          <p:nvPr/>
        </p:nvPicPr>
        <p:blipFill>
          <a:blip r:embed="rId2"/>
          <a:stretch>
            <a:fillRect/>
          </a:stretch>
        </p:blipFill>
        <p:spPr>
          <a:xfrm>
            <a:off x="1246909" y="4322618"/>
            <a:ext cx="5417127" cy="2161308"/>
          </a:xfrm>
          <a:prstGeom prst="rect">
            <a:avLst/>
          </a:prstGeom>
        </p:spPr>
      </p:pic>
    </p:spTree>
    <p:extLst>
      <p:ext uri="{BB962C8B-B14F-4D97-AF65-F5344CB8AC3E}">
        <p14:creationId xmlns:p14="http://schemas.microsoft.com/office/powerpoint/2010/main" val="270971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76EE2-C356-B38E-3B0B-B4114D9D5ACF}"/>
              </a:ext>
            </a:extLst>
          </p:cNvPr>
          <p:cNvSpPr>
            <a:spLocks noGrp="1"/>
          </p:cNvSpPr>
          <p:nvPr>
            <p:ph type="title"/>
          </p:nvPr>
        </p:nvSpPr>
        <p:spPr/>
        <p:txBody>
          <a:bodyPr>
            <a:normAutofit/>
          </a:bodyPr>
          <a:lstStyle/>
          <a:p>
            <a:pPr marL="342900" indent="-342900" algn="just">
              <a:buFont typeface="Wingdings" pitchFamily="2" charset="2"/>
              <a:buChar char="q"/>
            </a:pPr>
            <a:r>
              <a:rPr lang="en-US" sz="2000" b="1" cap="none" dirty="0">
                <a:latin typeface="Times New Roman" panose="02020603050405020304" pitchFamily="18" charset="0"/>
                <a:cs typeface="Times New Roman" panose="02020603050405020304" pitchFamily="18" charset="0"/>
              </a:rPr>
              <a:t>Methods used</a:t>
            </a:r>
          </a:p>
        </p:txBody>
      </p:sp>
      <p:sp>
        <p:nvSpPr>
          <p:cNvPr id="3" name="Content Placeholder 2">
            <a:extLst>
              <a:ext uri="{FF2B5EF4-FFF2-40B4-BE49-F238E27FC236}">
                <a16:creationId xmlns:a16="http://schemas.microsoft.com/office/drawing/2014/main" id="{9DA002A2-F10B-32E3-CB12-5C922F7B8014}"/>
              </a:ext>
            </a:extLst>
          </p:cNvPr>
          <p:cNvSpPr>
            <a:spLocks noGrp="1"/>
          </p:cNvSpPr>
          <p:nvPr>
            <p:ph sz="quarter" idx="13"/>
          </p:nvPr>
        </p:nvSpPr>
        <p:spPr/>
        <p:txBody>
          <a:bodyPr>
            <a:normAutofit fontScale="92500" lnSpcReduction="20000"/>
          </a:bodyPr>
          <a:lstStyle/>
          <a:p>
            <a:pPr>
              <a:buFont typeface="Wingdings" pitchFamily="2" charset="2"/>
              <a:buChar char="v"/>
            </a:pPr>
            <a:r>
              <a:rPr lang="en-US" sz="1800" b="1" cap="none" dirty="0">
                <a:latin typeface="Times New Roman" panose="02020603050405020304" pitchFamily="18" charset="0"/>
                <a:cs typeface="Times New Roman" panose="02020603050405020304" pitchFamily="18" charset="0"/>
              </a:rPr>
              <a:t>Training process</a:t>
            </a:r>
          </a:p>
          <a:p>
            <a:r>
              <a:rPr lang="en-US" sz="1800" cap="none" dirty="0">
                <a:latin typeface="Times New Roman" panose="02020603050405020304" pitchFamily="18" charset="0"/>
                <a:cs typeface="Times New Roman" panose="02020603050405020304" pitchFamily="18" charset="0"/>
              </a:rPr>
              <a:t>Optimizer: Stochastic Gradient Descent (SGD) with momentum (0.9) and Nesterov acceleration to guarantee stable convergence.</a:t>
            </a:r>
          </a:p>
          <a:p>
            <a:r>
              <a:rPr lang="en-US" sz="1800" cap="none" dirty="0">
                <a:latin typeface="Times New Roman" panose="02020603050405020304" pitchFamily="18" charset="0"/>
                <a:cs typeface="Times New Roman" panose="02020603050405020304" pitchFamily="18" charset="0"/>
              </a:rPr>
              <a:t>Loss Function: Binary cross-entropy loss to measure real vs. fake classification performance.</a:t>
            </a:r>
          </a:p>
          <a:p>
            <a:r>
              <a:rPr lang="en-US" sz="1800" cap="none" dirty="0">
                <a:latin typeface="Times New Roman" panose="02020603050405020304" pitchFamily="18" charset="0"/>
                <a:cs typeface="Times New Roman" panose="02020603050405020304" pitchFamily="18" charset="0"/>
              </a:rPr>
              <a:t>Batch Size: 128 samples per batch to balance memory efficiency and gradient accuracy.</a:t>
            </a:r>
          </a:p>
          <a:p>
            <a:r>
              <a:rPr lang="en-US" sz="1800" cap="none" dirty="0">
                <a:latin typeface="Times New Roman" panose="02020603050405020304" pitchFamily="18" charset="0"/>
                <a:cs typeface="Times New Roman" panose="02020603050405020304" pitchFamily="18" charset="0"/>
              </a:rPr>
              <a:t>Learning Rate: Fixed value of 0.0005 to avoid overshooting during weight update.</a:t>
            </a:r>
          </a:p>
          <a:p>
            <a:pPr>
              <a:buFont typeface="Wingdings" pitchFamily="2" charset="2"/>
              <a:buChar char="v"/>
            </a:pPr>
            <a:r>
              <a:rPr lang="en-US" sz="1800" b="1" cap="none" dirty="0">
                <a:latin typeface="Times New Roman" panose="02020603050405020304" pitchFamily="18" charset="0"/>
                <a:cs typeface="Times New Roman" panose="02020603050405020304" pitchFamily="18" charset="0"/>
              </a:rPr>
              <a:t>Evaluation Metrics</a:t>
            </a:r>
          </a:p>
          <a:p>
            <a:r>
              <a:rPr lang="en-US" sz="1800" cap="none" dirty="0" err="1">
                <a:latin typeface="Times New Roman" panose="02020603050405020304" pitchFamily="18" charset="0"/>
                <a:cs typeface="Times New Roman" panose="02020603050405020304" pitchFamily="18" charset="0"/>
              </a:rPr>
              <a:t>Frechet</a:t>
            </a:r>
            <a:r>
              <a:rPr lang="en-US" sz="1800" cap="none" dirty="0">
                <a:latin typeface="Times New Roman" panose="02020603050405020304" pitchFamily="18" charset="0"/>
                <a:cs typeface="Times New Roman" panose="02020603050405020304" pitchFamily="18" charset="0"/>
              </a:rPr>
              <a:t> Inspection Distance (FID) compares feature distributions.</a:t>
            </a:r>
          </a:p>
          <a:p>
            <a:r>
              <a:rPr lang="en-US" sz="1800" cap="none" dirty="0">
                <a:latin typeface="Times New Roman" panose="02020603050405020304" pitchFamily="18" charset="0"/>
                <a:cs typeface="Times New Roman" panose="02020603050405020304" pitchFamily="18" charset="0"/>
              </a:rPr>
              <a:t>Low FID means better quality</a:t>
            </a:r>
          </a:p>
          <a:p>
            <a:endParaRPr lang="en-US" sz="1800" b="1" cap="none" dirty="0">
              <a:latin typeface="Times New Roman" panose="02020603050405020304" pitchFamily="18" charset="0"/>
              <a:cs typeface="Times New Roman" panose="02020603050405020304" pitchFamily="18" charset="0"/>
            </a:endParaRPr>
          </a:p>
          <a:p>
            <a:pPr marL="0" indent="0">
              <a:buNone/>
            </a:pPr>
            <a:endParaRPr lang="en-US" sz="1800" cap="none" dirty="0"/>
          </a:p>
          <a:p>
            <a:pPr marL="0" indent="0">
              <a:buNone/>
            </a:pPr>
            <a:endParaRPr lang="en-US" sz="1800" b="1" cap="none" dirty="0"/>
          </a:p>
        </p:txBody>
      </p:sp>
    </p:spTree>
    <p:extLst>
      <p:ext uri="{BB962C8B-B14F-4D97-AF65-F5344CB8AC3E}">
        <p14:creationId xmlns:p14="http://schemas.microsoft.com/office/powerpoint/2010/main" val="1137996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5FCE1A-A8FA-CE62-FE50-DDA7CC570C02}"/>
              </a:ext>
            </a:extLst>
          </p:cNvPr>
          <p:cNvSpPr txBox="1"/>
          <p:nvPr/>
        </p:nvSpPr>
        <p:spPr>
          <a:xfrm>
            <a:off x="1482436" y="1620982"/>
            <a:ext cx="8908473" cy="2308324"/>
          </a:xfrm>
          <a:prstGeom prst="rect">
            <a:avLst/>
          </a:prstGeom>
          <a:noFill/>
        </p:spPr>
        <p:txBody>
          <a:bodyPr wrap="square" rtlCol="0">
            <a:spAutoFit/>
          </a:bodyPr>
          <a:lstStyle/>
          <a:p>
            <a:endParaRPr lang="en-US" dirty="0"/>
          </a:p>
          <a:p>
            <a:endParaRPr lang="en-US" dirty="0"/>
          </a:p>
          <a:p>
            <a:pPr marL="285750" indent="-285750">
              <a:buFont typeface="Wingdings" pitchFamily="2" charset="2"/>
              <a:buChar char="v"/>
            </a:pPr>
            <a:r>
              <a:rPr lang="en-US" b="1" dirty="0"/>
              <a:t>Visual inspection</a:t>
            </a:r>
          </a:p>
          <a:p>
            <a:endParaRPr lang="en-US" b="1" dirty="0"/>
          </a:p>
          <a:p>
            <a:pPr marL="285750" indent="-285750">
              <a:buFont typeface="Arial" panose="020B0604020202020204" pitchFamily="34" charset="0"/>
              <a:buChar char="•"/>
            </a:pPr>
            <a:r>
              <a:rPr lang="en-US" dirty="0"/>
              <a:t>Manually checking the results for realism and diversity.</a:t>
            </a:r>
          </a:p>
          <a:p>
            <a:endParaRPr lang="en-US" dirty="0"/>
          </a:p>
          <a:p>
            <a:endParaRPr lang="en-US" b="1" dirty="0"/>
          </a:p>
          <a:p>
            <a:endParaRPr lang="en-US" dirty="0"/>
          </a:p>
        </p:txBody>
      </p:sp>
    </p:spTree>
    <p:extLst>
      <p:ext uri="{BB962C8B-B14F-4D97-AF65-F5344CB8AC3E}">
        <p14:creationId xmlns:p14="http://schemas.microsoft.com/office/powerpoint/2010/main" val="1268369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C659B-9A2D-F7FF-96E0-5E700A16DB54}"/>
              </a:ext>
            </a:extLst>
          </p:cNvPr>
          <p:cNvSpPr>
            <a:spLocks noGrp="1"/>
          </p:cNvSpPr>
          <p:nvPr>
            <p:ph type="title"/>
          </p:nvPr>
        </p:nvSpPr>
        <p:spPr/>
        <p:txBody>
          <a:bodyPr>
            <a:normAutofit/>
          </a:bodyPr>
          <a:lstStyle/>
          <a:p>
            <a:pPr marL="342900" indent="-342900" algn="just">
              <a:buFont typeface="Wingdings" pitchFamily="2" charset="2"/>
              <a:buChar char="q"/>
            </a:pPr>
            <a:r>
              <a:rPr lang="en-US" sz="2000" b="1" cap="none" dirty="0">
                <a:latin typeface="Times New Roman" panose="02020603050405020304" pitchFamily="18" charset="0"/>
                <a:cs typeface="Times New Roman" panose="02020603050405020304" pitchFamily="18" charset="0"/>
              </a:rPr>
              <a:t>Results</a:t>
            </a:r>
          </a:p>
        </p:txBody>
      </p:sp>
      <p:pic>
        <p:nvPicPr>
          <p:cNvPr id="5" name="Content Placeholder 4" descr="A close-up of a grey speckled surface&#10;&#10;AI-generated content may be incorrect.">
            <a:extLst>
              <a:ext uri="{FF2B5EF4-FFF2-40B4-BE49-F238E27FC236}">
                <a16:creationId xmlns:a16="http://schemas.microsoft.com/office/drawing/2014/main" id="{E273322B-5B56-6F48-FBE1-217E4D3CAF35}"/>
              </a:ext>
            </a:extLst>
          </p:cNvPr>
          <p:cNvPicPr>
            <a:picLocks noGrp="1" noChangeAspect="1"/>
          </p:cNvPicPr>
          <p:nvPr>
            <p:ph sz="quarter" idx="13"/>
          </p:nvPr>
        </p:nvPicPr>
        <p:blipFill>
          <a:blip r:embed="rId2"/>
          <a:stretch>
            <a:fillRect/>
          </a:stretch>
        </p:blipFill>
        <p:spPr>
          <a:xfrm>
            <a:off x="1025236" y="2438400"/>
            <a:ext cx="2119746" cy="2050473"/>
          </a:xfrm>
        </p:spPr>
      </p:pic>
      <p:pic>
        <p:nvPicPr>
          <p:cNvPr id="7" name="Picture 6" descr="A black and white image of numbers&#10;&#10;AI-generated content may be incorrect.">
            <a:extLst>
              <a:ext uri="{FF2B5EF4-FFF2-40B4-BE49-F238E27FC236}">
                <a16:creationId xmlns:a16="http://schemas.microsoft.com/office/drawing/2014/main" id="{847E5BFB-A2A9-6770-A684-3CA0A4884A17}"/>
              </a:ext>
            </a:extLst>
          </p:cNvPr>
          <p:cNvPicPr>
            <a:picLocks noChangeAspect="1"/>
          </p:cNvPicPr>
          <p:nvPr/>
        </p:nvPicPr>
        <p:blipFill>
          <a:blip r:embed="rId3"/>
          <a:stretch>
            <a:fillRect/>
          </a:stretch>
        </p:blipFill>
        <p:spPr>
          <a:xfrm>
            <a:off x="5118100" y="2445326"/>
            <a:ext cx="2119746" cy="2050473"/>
          </a:xfrm>
          <a:prstGeom prst="rect">
            <a:avLst/>
          </a:prstGeom>
        </p:spPr>
      </p:pic>
      <p:pic>
        <p:nvPicPr>
          <p:cNvPr id="9" name="Picture 8" descr="A close-up of numbers&#10;&#10;AI-generated content may be incorrect.">
            <a:extLst>
              <a:ext uri="{FF2B5EF4-FFF2-40B4-BE49-F238E27FC236}">
                <a16:creationId xmlns:a16="http://schemas.microsoft.com/office/drawing/2014/main" id="{27585AC9-9A74-7124-FAB8-1CD9C5F51AE0}"/>
              </a:ext>
            </a:extLst>
          </p:cNvPr>
          <p:cNvPicPr>
            <a:picLocks noChangeAspect="1"/>
          </p:cNvPicPr>
          <p:nvPr/>
        </p:nvPicPr>
        <p:blipFill>
          <a:blip r:embed="rId4"/>
          <a:stretch>
            <a:fillRect/>
          </a:stretch>
        </p:blipFill>
        <p:spPr>
          <a:xfrm>
            <a:off x="8880762" y="2445326"/>
            <a:ext cx="2119746" cy="2050474"/>
          </a:xfrm>
          <a:prstGeom prst="rect">
            <a:avLst/>
          </a:prstGeom>
        </p:spPr>
      </p:pic>
      <p:sp>
        <p:nvSpPr>
          <p:cNvPr id="12" name="TextBox 11">
            <a:extLst>
              <a:ext uri="{FF2B5EF4-FFF2-40B4-BE49-F238E27FC236}">
                <a16:creationId xmlns:a16="http://schemas.microsoft.com/office/drawing/2014/main" id="{3BE7B564-B00D-A736-7530-CB82ED80C084}"/>
              </a:ext>
            </a:extLst>
          </p:cNvPr>
          <p:cNvSpPr txBox="1"/>
          <p:nvPr/>
        </p:nvSpPr>
        <p:spPr>
          <a:xfrm>
            <a:off x="1330037" y="5140036"/>
            <a:ext cx="1686566" cy="369332"/>
          </a:xfrm>
          <a:prstGeom prst="rect">
            <a:avLst/>
          </a:prstGeom>
          <a:noFill/>
        </p:spPr>
        <p:txBody>
          <a:bodyPr wrap="square" rtlCol="0">
            <a:spAutoFit/>
          </a:bodyPr>
          <a:lstStyle/>
          <a:p>
            <a:r>
              <a:rPr lang="en-US" dirty="0"/>
              <a:t>Initial Noise</a:t>
            </a:r>
          </a:p>
        </p:txBody>
      </p:sp>
      <p:sp>
        <p:nvSpPr>
          <p:cNvPr id="13" name="TextBox 12">
            <a:extLst>
              <a:ext uri="{FF2B5EF4-FFF2-40B4-BE49-F238E27FC236}">
                <a16:creationId xmlns:a16="http://schemas.microsoft.com/office/drawing/2014/main" id="{05B7DD77-21BE-C125-040B-FB810BA76C99}"/>
              </a:ext>
            </a:extLst>
          </p:cNvPr>
          <p:cNvSpPr txBox="1"/>
          <p:nvPr/>
        </p:nvSpPr>
        <p:spPr>
          <a:xfrm>
            <a:off x="5347855" y="5140036"/>
            <a:ext cx="2380511" cy="369332"/>
          </a:xfrm>
          <a:prstGeom prst="rect">
            <a:avLst/>
          </a:prstGeom>
          <a:noFill/>
        </p:spPr>
        <p:txBody>
          <a:bodyPr wrap="square" rtlCol="0">
            <a:spAutoFit/>
          </a:bodyPr>
          <a:lstStyle/>
          <a:p>
            <a:r>
              <a:rPr lang="en-US" dirty="0"/>
              <a:t>After Epoch 5</a:t>
            </a:r>
          </a:p>
        </p:txBody>
      </p:sp>
      <p:sp>
        <p:nvSpPr>
          <p:cNvPr id="14" name="TextBox 13">
            <a:extLst>
              <a:ext uri="{FF2B5EF4-FFF2-40B4-BE49-F238E27FC236}">
                <a16:creationId xmlns:a16="http://schemas.microsoft.com/office/drawing/2014/main" id="{1C5700DD-ACAF-D91E-CF22-1A6F99ED7E73}"/>
              </a:ext>
            </a:extLst>
          </p:cNvPr>
          <p:cNvSpPr txBox="1"/>
          <p:nvPr/>
        </p:nvSpPr>
        <p:spPr>
          <a:xfrm>
            <a:off x="9171184" y="5140036"/>
            <a:ext cx="1690779" cy="369332"/>
          </a:xfrm>
          <a:prstGeom prst="rect">
            <a:avLst/>
          </a:prstGeom>
          <a:noFill/>
        </p:spPr>
        <p:txBody>
          <a:bodyPr wrap="square" rtlCol="0">
            <a:spAutoFit/>
          </a:bodyPr>
          <a:lstStyle/>
          <a:p>
            <a:r>
              <a:rPr lang="en-US" dirty="0"/>
              <a:t>After Epoch 15</a:t>
            </a:r>
          </a:p>
        </p:txBody>
      </p:sp>
    </p:spTree>
    <p:extLst>
      <p:ext uri="{BB962C8B-B14F-4D97-AF65-F5344CB8AC3E}">
        <p14:creationId xmlns:p14="http://schemas.microsoft.com/office/powerpoint/2010/main" val="647643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98DA5-2EB4-DCCE-29DC-C13565199AA2}"/>
              </a:ext>
            </a:extLst>
          </p:cNvPr>
          <p:cNvSpPr>
            <a:spLocks noGrp="1"/>
          </p:cNvSpPr>
          <p:nvPr>
            <p:ph type="title"/>
          </p:nvPr>
        </p:nvSpPr>
        <p:spPr/>
        <p:txBody>
          <a:bodyPr>
            <a:normAutofit/>
          </a:bodyPr>
          <a:lstStyle/>
          <a:p>
            <a:pPr marL="342900" indent="-342900" algn="just">
              <a:buFont typeface="Wingdings" pitchFamily="2" charset="2"/>
              <a:buChar char="q"/>
            </a:pPr>
            <a:r>
              <a:rPr lang="en-US" sz="2000" b="1" cap="none"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DB9742C7-192C-0E20-F5F6-451076B253F0}"/>
              </a:ext>
            </a:extLst>
          </p:cNvPr>
          <p:cNvSpPr>
            <a:spLocks noGrp="1"/>
          </p:cNvSpPr>
          <p:nvPr>
            <p:ph sz="quarter" idx="13"/>
          </p:nvPr>
        </p:nvSpPr>
        <p:spPr/>
        <p:txBody>
          <a:bodyPr/>
          <a:lstStyle/>
          <a:p>
            <a:r>
              <a:rPr lang="en-US" sz="1800" cap="none" dirty="0">
                <a:latin typeface="Times New Roman" panose="02020603050405020304" pitchFamily="18" charset="0"/>
                <a:cs typeface="Times New Roman" panose="02020603050405020304" pitchFamily="18" charset="0"/>
              </a:rPr>
              <a:t>FID score is 16.80</a:t>
            </a:r>
          </a:p>
          <a:p>
            <a:pPr marL="0" indent="0">
              <a:buNone/>
            </a:pPr>
            <a:endParaRPr lang="en-US" sz="1800" cap="none" dirty="0"/>
          </a:p>
          <a:p>
            <a:pPr marL="0" indent="0">
              <a:buNone/>
            </a:pPr>
            <a:endParaRPr lang="en-US" dirty="0"/>
          </a:p>
          <a:p>
            <a:pPr marL="0" indent="0">
              <a:buNone/>
            </a:pPr>
            <a:endParaRPr lang="en-US" dirty="0"/>
          </a:p>
          <a:p>
            <a:r>
              <a:rPr lang="en-US" sz="1800" cap="none" dirty="0">
                <a:latin typeface="Times New Roman" panose="02020603050405020304" pitchFamily="18" charset="0"/>
                <a:cs typeface="Times New Roman" panose="02020603050405020304" pitchFamily="18" charset="0"/>
              </a:rPr>
              <a:t>Balance between generator loss and discriminator loss shows stable training.</a:t>
            </a:r>
          </a:p>
          <a:p>
            <a:pPr marL="0" indent="0">
              <a:buNone/>
            </a:pPr>
            <a:endParaRPr lang="en-US" sz="1800" cap="none" dirty="0">
              <a:latin typeface="Times New Roman" panose="02020603050405020304" pitchFamily="18" charset="0"/>
              <a:cs typeface="Times New Roman" panose="02020603050405020304" pitchFamily="18" charset="0"/>
            </a:endParaRPr>
          </a:p>
          <a:p>
            <a:pPr marL="0" indent="0">
              <a:buNone/>
            </a:pPr>
            <a:endParaRPr lang="en-US" dirty="0"/>
          </a:p>
        </p:txBody>
      </p:sp>
      <p:pic>
        <p:nvPicPr>
          <p:cNvPr id="5" name="Picture 4" descr="A screenshot of a computer&#10;&#10;AI-generated content may be incorrect.">
            <a:extLst>
              <a:ext uri="{FF2B5EF4-FFF2-40B4-BE49-F238E27FC236}">
                <a16:creationId xmlns:a16="http://schemas.microsoft.com/office/drawing/2014/main" id="{B5FB8B75-B1BD-D499-7018-4792CB8174C2}"/>
              </a:ext>
            </a:extLst>
          </p:cNvPr>
          <p:cNvPicPr>
            <a:picLocks noChangeAspect="1"/>
          </p:cNvPicPr>
          <p:nvPr/>
        </p:nvPicPr>
        <p:blipFill>
          <a:blip r:embed="rId2"/>
          <a:stretch>
            <a:fillRect/>
          </a:stretch>
        </p:blipFill>
        <p:spPr>
          <a:xfrm>
            <a:off x="1219200" y="2964873"/>
            <a:ext cx="4350327" cy="1122218"/>
          </a:xfrm>
          <a:prstGeom prst="rect">
            <a:avLst/>
          </a:prstGeom>
        </p:spPr>
      </p:pic>
      <p:pic>
        <p:nvPicPr>
          <p:cNvPr id="7" name="Picture 6" descr="A table of numbers and symbols&#10;&#10;AI-generated content may be incorrect.">
            <a:extLst>
              <a:ext uri="{FF2B5EF4-FFF2-40B4-BE49-F238E27FC236}">
                <a16:creationId xmlns:a16="http://schemas.microsoft.com/office/drawing/2014/main" id="{968DF0DB-08EF-AFCC-7FEB-FCD030D2D67F}"/>
              </a:ext>
            </a:extLst>
          </p:cNvPr>
          <p:cNvPicPr>
            <a:picLocks noChangeAspect="1"/>
          </p:cNvPicPr>
          <p:nvPr/>
        </p:nvPicPr>
        <p:blipFill>
          <a:blip r:embed="rId3"/>
          <a:stretch>
            <a:fillRect/>
          </a:stretch>
        </p:blipFill>
        <p:spPr>
          <a:xfrm>
            <a:off x="1219201" y="4878531"/>
            <a:ext cx="3962400" cy="1510449"/>
          </a:xfrm>
          <a:prstGeom prst="rect">
            <a:avLst/>
          </a:prstGeom>
        </p:spPr>
      </p:pic>
    </p:spTree>
    <p:extLst>
      <p:ext uri="{BB962C8B-B14F-4D97-AF65-F5344CB8AC3E}">
        <p14:creationId xmlns:p14="http://schemas.microsoft.com/office/powerpoint/2010/main" val="3051554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31BE4-79D2-0378-CEA8-12824299FBB4}"/>
              </a:ext>
            </a:extLst>
          </p:cNvPr>
          <p:cNvSpPr>
            <a:spLocks noGrp="1"/>
          </p:cNvSpPr>
          <p:nvPr>
            <p:ph type="title"/>
          </p:nvPr>
        </p:nvSpPr>
        <p:spPr/>
        <p:txBody>
          <a:bodyPr>
            <a:normAutofit/>
          </a:bodyPr>
          <a:lstStyle/>
          <a:p>
            <a:pPr marL="571500" indent="-571500" algn="just">
              <a:buFont typeface="Wingdings" pitchFamily="2" charset="2"/>
              <a:buChar char="q"/>
            </a:pPr>
            <a:r>
              <a:rPr lang="en-US" sz="2000" b="1" cap="none" dirty="0">
                <a:latin typeface="Times New Roman" panose="02020603050405020304" pitchFamily="18" charset="0"/>
                <a:cs typeface="Times New Roman" panose="02020603050405020304" pitchFamily="18" charset="0"/>
              </a:rPr>
              <a:t>Challenges</a:t>
            </a:r>
          </a:p>
        </p:txBody>
      </p:sp>
      <p:sp>
        <p:nvSpPr>
          <p:cNvPr id="3" name="Content Placeholder 2">
            <a:extLst>
              <a:ext uri="{FF2B5EF4-FFF2-40B4-BE49-F238E27FC236}">
                <a16:creationId xmlns:a16="http://schemas.microsoft.com/office/drawing/2014/main" id="{9727CFC9-0EE5-A685-CB6B-95FA17CFA870}"/>
              </a:ext>
            </a:extLst>
          </p:cNvPr>
          <p:cNvSpPr>
            <a:spLocks noGrp="1"/>
          </p:cNvSpPr>
          <p:nvPr>
            <p:ph sz="quarter" idx="13"/>
          </p:nvPr>
        </p:nvSpPr>
        <p:spPr/>
        <p:txBody>
          <a:bodyPr>
            <a:noAutofit/>
          </a:bodyPr>
          <a:lstStyle/>
          <a:p>
            <a:r>
              <a:rPr lang="en-US" sz="1800" cap="none" dirty="0">
                <a:latin typeface="Times New Roman" panose="02020603050405020304" pitchFamily="18" charset="0"/>
                <a:cs typeface="Times New Roman" panose="02020603050405020304" pitchFamily="18" charset="0"/>
              </a:rPr>
              <a:t>Training instability</a:t>
            </a:r>
          </a:p>
          <a:p>
            <a:r>
              <a:rPr lang="en-US" sz="1800" cap="none" dirty="0">
                <a:latin typeface="Times New Roman" panose="02020603050405020304" pitchFamily="18" charset="0"/>
                <a:cs typeface="Times New Roman" panose="02020603050405020304" pitchFamily="18" charset="0"/>
              </a:rPr>
              <a:t> Generator and discriminator struggle to stabilize, resulting in unstable learning.</a:t>
            </a:r>
          </a:p>
          <a:p>
            <a:r>
              <a:rPr lang="en-US" sz="1800" cap="none" dirty="0">
                <a:latin typeface="Times New Roman" panose="02020603050405020304" pitchFamily="18" charset="0"/>
                <a:cs typeface="Times New Roman" panose="02020603050405020304" pitchFamily="18" charset="0"/>
              </a:rPr>
              <a:t>Mode collapse</a:t>
            </a:r>
          </a:p>
          <a:p>
            <a:r>
              <a:rPr lang="en-US" sz="1800" cap="none" dirty="0">
                <a:latin typeface="Times New Roman" panose="02020603050405020304" pitchFamily="18" charset="0"/>
                <a:cs typeface="Times New Roman" panose="02020603050405020304" pitchFamily="18" charset="0"/>
              </a:rPr>
              <a:t>Generator produces limited digit types</a:t>
            </a:r>
          </a:p>
          <a:p>
            <a:r>
              <a:rPr lang="en-US" sz="1800" cap="none" dirty="0">
                <a:latin typeface="Times New Roman" panose="02020603050405020304" pitchFamily="18" charset="0"/>
                <a:cs typeface="Times New Roman" panose="02020603050405020304" pitchFamily="18" charset="0"/>
              </a:rPr>
              <a:t>Hyperparameter sensitivity</a:t>
            </a:r>
          </a:p>
          <a:p>
            <a:r>
              <a:rPr lang="en-US" sz="1800" cap="none" dirty="0">
                <a:latin typeface="Times New Roman" panose="02020603050405020304" pitchFamily="18" charset="0"/>
                <a:cs typeface="Times New Roman" panose="02020603050405020304" pitchFamily="18" charset="0"/>
              </a:rPr>
              <a:t> Performance relies on precise tuning of learning rate or the batch size.</a:t>
            </a:r>
          </a:p>
          <a:p>
            <a:r>
              <a:rPr lang="en-US" sz="1800" cap="none" dirty="0">
                <a:latin typeface="Times New Roman" panose="02020603050405020304" pitchFamily="18" charset="0"/>
                <a:cs typeface="Times New Roman" panose="02020603050405020304" pitchFamily="18" charset="0"/>
              </a:rPr>
              <a:t>Vanishing gradients</a:t>
            </a:r>
          </a:p>
          <a:p>
            <a:r>
              <a:rPr lang="en-US" sz="1800" cap="none" dirty="0">
                <a:latin typeface="Times New Roman" panose="02020603050405020304" pitchFamily="18" charset="0"/>
                <a:cs typeface="Times New Roman" panose="02020603050405020304" pitchFamily="18" charset="0"/>
              </a:rPr>
              <a:t> Dominant discriminator brings generator output to a halt.</a:t>
            </a:r>
          </a:p>
          <a:p>
            <a:r>
              <a:rPr lang="en-US" sz="1800" cap="none" dirty="0">
                <a:latin typeface="Times New Roman" panose="02020603050405020304" pitchFamily="18" charset="0"/>
                <a:cs typeface="Times New Roman" panose="02020603050405020304" pitchFamily="18" charset="0"/>
              </a:rPr>
              <a:t>Evaluation difficulty</a:t>
            </a:r>
          </a:p>
          <a:p>
            <a:r>
              <a:rPr lang="en-US" sz="1800" cap="none" dirty="0">
                <a:latin typeface="Times New Roman" panose="02020603050405020304" pitchFamily="18" charset="0"/>
                <a:cs typeface="Times New Roman" panose="02020603050405020304" pitchFamily="18" charset="0"/>
              </a:rPr>
              <a:t> No numerical measure; need to look at images by manually.</a:t>
            </a:r>
          </a:p>
        </p:txBody>
      </p:sp>
    </p:spTree>
    <p:extLst>
      <p:ext uri="{BB962C8B-B14F-4D97-AF65-F5344CB8AC3E}">
        <p14:creationId xmlns:p14="http://schemas.microsoft.com/office/powerpoint/2010/main" val="500189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00A63-DD16-4A12-69B3-E947F2DF7559}"/>
              </a:ext>
            </a:extLst>
          </p:cNvPr>
          <p:cNvSpPr>
            <a:spLocks noGrp="1"/>
          </p:cNvSpPr>
          <p:nvPr>
            <p:ph type="title"/>
          </p:nvPr>
        </p:nvSpPr>
        <p:spPr/>
        <p:txBody>
          <a:bodyPr>
            <a:normAutofit/>
          </a:bodyPr>
          <a:lstStyle/>
          <a:p>
            <a:pPr marL="342900" indent="-342900" algn="just">
              <a:buFont typeface="Wingdings" pitchFamily="2" charset="2"/>
              <a:buChar char="q"/>
            </a:pPr>
            <a:r>
              <a:rPr lang="en-US" sz="2000" b="1" cap="none" dirty="0">
                <a:latin typeface="Times New Roman" panose="02020603050405020304" pitchFamily="18" charset="0"/>
                <a:cs typeface="Times New Roman" panose="02020603050405020304" pitchFamily="18" charset="0"/>
              </a:rPr>
              <a:t>Performance improvement strategies</a:t>
            </a:r>
          </a:p>
        </p:txBody>
      </p:sp>
      <p:sp>
        <p:nvSpPr>
          <p:cNvPr id="3" name="Content Placeholder 2">
            <a:extLst>
              <a:ext uri="{FF2B5EF4-FFF2-40B4-BE49-F238E27FC236}">
                <a16:creationId xmlns:a16="http://schemas.microsoft.com/office/drawing/2014/main" id="{B2947B7C-F660-9513-FE0B-4FEE54A30B53}"/>
              </a:ext>
            </a:extLst>
          </p:cNvPr>
          <p:cNvSpPr>
            <a:spLocks noGrp="1"/>
          </p:cNvSpPr>
          <p:nvPr>
            <p:ph sz="quarter" idx="13"/>
          </p:nvPr>
        </p:nvSpPr>
        <p:spPr/>
        <p:txBody>
          <a:bodyPr>
            <a:noAutofit/>
          </a:bodyPr>
          <a:lstStyle/>
          <a:p>
            <a:r>
              <a:rPr lang="en-US" sz="1800" cap="none" dirty="0">
                <a:latin typeface="Times New Roman" panose="02020603050405020304" pitchFamily="18" charset="0"/>
                <a:cs typeface="Times New Roman" panose="02020603050405020304" pitchFamily="18" charset="0"/>
              </a:rPr>
              <a:t>Replace regular CNN with DCGAN or RENSET blocks for sharper image generation.</a:t>
            </a:r>
          </a:p>
          <a:p>
            <a:r>
              <a:rPr lang="en-US" sz="1800" cap="none" dirty="0">
                <a:latin typeface="Times New Roman" panose="02020603050405020304" pitchFamily="18" charset="0"/>
                <a:cs typeface="Times New Roman" panose="02020603050405020304" pitchFamily="18" charset="0"/>
              </a:rPr>
              <a:t>Learning rate scheduling.</a:t>
            </a:r>
          </a:p>
          <a:p>
            <a:r>
              <a:rPr lang="en-US" sz="1800" cap="none" dirty="0">
                <a:latin typeface="Times New Roman" panose="02020603050405020304" pitchFamily="18" charset="0"/>
                <a:cs typeface="Times New Roman" panose="02020603050405020304" pitchFamily="18" charset="0"/>
              </a:rPr>
              <a:t>Add dynamic LR adaptation to converge more.</a:t>
            </a:r>
          </a:p>
          <a:p>
            <a:r>
              <a:rPr lang="en-US" sz="1800" cap="none" dirty="0">
                <a:latin typeface="Times New Roman" panose="02020603050405020304" pitchFamily="18" charset="0"/>
                <a:cs typeface="Times New Roman" panose="02020603050405020304" pitchFamily="18" charset="0"/>
              </a:rPr>
              <a:t>Data augmentation.</a:t>
            </a:r>
          </a:p>
          <a:p>
            <a:r>
              <a:rPr lang="en-US" sz="1800" cap="none" dirty="0">
                <a:latin typeface="Times New Roman" panose="02020603050405020304" pitchFamily="18" charset="0"/>
                <a:cs typeface="Times New Roman" panose="02020603050405020304" pitchFamily="18" charset="0"/>
              </a:rPr>
              <a:t>Apply rotations/scaling on MNIST to increase diversity and reduce overfitting.</a:t>
            </a:r>
          </a:p>
          <a:p>
            <a:r>
              <a:rPr lang="en-US" sz="1800" cap="none" dirty="0">
                <a:latin typeface="Times New Roman" panose="02020603050405020304" pitchFamily="18" charset="0"/>
                <a:cs typeface="Times New Roman" panose="02020603050405020304" pitchFamily="18" charset="0"/>
              </a:rPr>
              <a:t>Generalize to labeled generation (</a:t>
            </a:r>
            <a:r>
              <a:rPr lang="en-US" sz="1800" cap="none" dirty="0" err="1">
                <a:latin typeface="Times New Roman" panose="02020603050405020304" pitchFamily="18" charset="0"/>
                <a:cs typeface="Times New Roman" panose="02020603050405020304" pitchFamily="18" charset="0"/>
              </a:rPr>
              <a:t>eg.</a:t>
            </a:r>
            <a:r>
              <a:rPr lang="en-US" sz="1800" cap="none" dirty="0">
                <a:latin typeface="Times New Roman" panose="02020603050405020304" pitchFamily="18" charset="0"/>
                <a:cs typeface="Times New Roman" panose="02020603050405020304" pitchFamily="18" charset="0"/>
              </a:rPr>
              <a:t> Generate certain digits on demand).</a:t>
            </a:r>
          </a:p>
        </p:txBody>
      </p:sp>
    </p:spTree>
    <p:extLst>
      <p:ext uri="{BB962C8B-B14F-4D97-AF65-F5344CB8AC3E}">
        <p14:creationId xmlns:p14="http://schemas.microsoft.com/office/powerpoint/2010/main" val="2223311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B617B-B4CF-528B-C36B-CCA438D9DD8A}"/>
              </a:ext>
            </a:extLst>
          </p:cNvPr>
          <p:cNvSpPr>
            <a:spLocks noGrp="1"/>
          </p:cNvSpPr>
          <p:nvPr>
            <p:ph type="title"/>
          </p:nvPr>
        </p:nvSpPr>
        <p:spPr/>
        <p:txBody>
          <a:bodyPr>
            <a:normAutofit/>
          </a:bodyPr>
          <a:lstStyle/>
          <a:p>
            <a:pPr marL="285750" indent="-285750" algn="just">
              <a:buFont typeface="Wingdings" pitchFamily="2" charset="2"/>
              <a:buChar char="q"/>
            </a:pPr>
            <a:r>
              <a:rPr lang="en-US" sz="2000" b="1" cap="none"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626CDDA8-260B-FF16-EA88-63F5E1922D89}"/>
              </a:ext>
            </a:extLst>
          </p:cNvPr>
          <p:cNvSpPr>
            <a:spLocks noGrp="1"/>
          </p:cNvSpPr>
          <p:nvPr>
            <p:ph sz="quarter" idx="13"/>
          </p:nvPr>
        </p:nvSpPr>
        <p:spPr/>
        <p:txBody>
          <a:bodyPr>
            <a:normAutofit/>
          </a:bodyPr>
          <a:lstStyle/>
          <a:p>
            <a:pPr marL="0" indent="0">
              <a:buNone/>
            </a:pPr>
            <a:r>
              <a:rPr lang="en-US" sz="1800" cap="none" dirty="0">
                <a:latin typeface="Times New Roman" panose="02020603050405020304" pitchFamily="18" charset="0"/>
                <a:cs typeface="Times New Roman" panose="02020603050405020304" pitchFamily="18" charset="0"/>
              </a:rPr>
              <a:t>This GAN implementation is able to generate MNIST digits but also struggles with issues such as training instability and blurry images. The code offers a functional starting point, but needs to be optimized for performance. Some of the major improvements would be newer architectures and more advanced loss functions. Learning these tradeoffs is useful for mastering generative models. The project illustrates both the promise and challenges of using GANS in practice.</a:t>
            </a:r>
          </a:p>
        </p:txBody>
      </p:sp>
    </p:spTree>
    <p:extLst>
      <p:ext uri="{BB962C8B-B14F-4D97-AF65-F5344CB8AC3E}">
        <p14:creationId xmlns:p14="http://schemas.microsoft.com/office/powerpoint/2010/main" val="231541723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
  <TotalTime>790</TotalTime>
  <Words>642</Words>
  <Application>Microsoft Macintosh PowerPoint</Application>
  <PresentationFormat>Widescreen</PresentationFormat>
  <Paragraphs>82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Times New Roman</vt:lpstr>
      <vt:lpstr>Tw Cen MT</vt:lpstr>
      <vt:lpstr>Wingdings</vt:lpstr>
      <vt:lpstr>Droplet</vt:lpstr>
      <vt:lpstr>Generative adversarial networks for image Generation</vt:lpstr>
      <vt:lpstr>Objective</vt:lpstr>
      <vt:lpstr>Introduction</vt:lpstr>
      <vt:lpstr>Task description</vt:lpstr>
      <vt:lpstr>MNIST Dataset</vt:lpstr>
      <vt:lpstr>Methods used</vt:lpstr>
      <vt:lpstr>Methods used</vt:lpstr>
      <vt:lpstr>Methods used</vt:lpstr>
      <vt:lpstr>PowerPoint Presentation</vt:lpstr>
      <vt:lpstr>Results</vt:lpstr>
      <vt:lpstr>Results</vt:lpstr>
      <vt:lpstr>Challenges</vt:lpstr>
      <vt:lpstr>Performance improvement strategies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Malgireddy, Revanth Reddy</dc:creator>
  <cp:lastModifiedBy>Malgireddy, Revanth Reddy</cp:lastModifiedBy>
  <cp:revision>17</cp:revision>
  <dcterms:created xsi:type="dcterms:W3CDTF">2025-04-17T03:05:19Z</dcterms:created>
  <dcterms:modified xsi:type="dcterms:W3CDTF">2025-04-17T17:06:54Z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e7542bc-63e5-412b-b0a0-d9586028a7d0_Enabled">
    <vt:lpwstr>true</vt:lpwstr>
  </property>
  <property fmtid="{D5CDD505-2E9C-101B-9397-08002B2CF9AE}" pid="3" name="MSIP_Label_ae7542bc-63e5-412b-b0a0-d9586028a7d0_SetDate">
    <vt:lpwstr>2025-04-17T03:56:37Z</vt:lpwstr>
  </property>
  <property fmtid="{D5CDD505-2E9C-101B-9397-08002B2CF9AE}" pid="4" name="MSIP_Label_ae7542bc-63e5-412b-b0a0-d9586028a7d0_Method">
    <vt:lpwstr>Standard</vt:lpwstr>
  </property>
  <property fmtid="{D5CDD505-2E9C-101B-9397-08002B2CF9AE}" pid="5" name="MSIP_Label_ae7542bc-63e5-412b-b0a0-d9586028a7d0_Name">
    <vt:lpwstr>Sensitive</vt:lpwstr>
  </property>
  <property fmtid="{D5CDD505-2E9C-101B-9397-08002B2CF9AE}" pid="6" name="MSIP_Label_ae7542bc-63e5-412b-b0a0-d9586028a7d0_SiteId">
    <vt:lpwstr>d8999fe4-76af-40b3-b435-1d8977abc08c</vt:lpwstr>
  </property>
  <property fmtid="{D5CDD505-2E9C-101B-9397-08002B2CF9AE}" pid="7" name="MSIP_Label_ae7542bc-63e5-412b-b0a0-d9586028a7d0_ActionId">
    <vt:lpwstr>267bb250-4b72-456b-9169-0761bf2e07af</vt:lpwstr>
  </property>
  <property fmtid="{D5CDD505-2E9C-101B-9397-08002B2CF9AE}" pid="8" name="MSIP_Label_ae7542bc-63e5-412b-b0a0-d9586028a7d0_ContentBits">
    <vt:lpwstr>0</vt:lpwstr>
  </property>
  <property fmtid="{D5CDD505-2E9C-101B-9397-08002B2CF9AE}" pid="9" name="MSIP_Label_ae7542bc-63e5-412b-b0a0-d9586028a7d0_Tag">
    <vt:lpwstr>50, 3, 0, 1</vt:lpwstr>
  </property>
</Properties>
</file>